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8" r:id="rId3"/>
    <p:sldId id="261" r:id="rId4"/>
    <p:sldId id="262" r:id="rId5"/>
    <p:sldId id="263" r:id="rId6"/>
    <p:sldId id="273" r:id="rId7"/>
    <p:sldId id="264" r:id="rId8"/>
    <p:sldId id="265" r:id="rId9"/>
    <p:sldId id="266" r:id="rId10"/>
    <p:sldId id="267" r:id="rId11"/>
    <p:sldId id="268" r:id="rId12"/>
    <p:sldId id="269" r:id="rId13"/>
    <p:sldId id="274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arajita Sah" userId="58df650a9b28e738" providerId="LiveId" clId="{B2A23491-897E-4100-A280-E6ABBF3F6805}"/>
    <pc:docChg chg="delSld modSld">
      <pc:chgData name="Aparajita Sah" userId="58df650a9b28e738" providerId="LiveId" clId="{B2A23491-897E-4100-A280-E6ABBF3F6805}" dt="2026-04-21T22:23:19.981" v="15" actId="20577"/>
      <pc:docMkLst>
        <pc:docMk/>
      </pc:docMkLst>
      <pc:sldChg chg="modSp mod">
        <pc:chgData name="Aparajita Sah" userId="58df650a9b28e738" providerId="LiveId" clId="{B2A23491-897E-4100-A280-E6ABBF3F6805}" dt="2026-04-21T22:23:19.981" v="15" actId="20577"/>
        <pc:sldMkLst>
          <pc:docMk/>
          <pc:sldMk cId="0" sldId="257"/>
        </pc:sldMkLst>
        <pc:spChg chg="mod">
          <ac:chgData name="Aparajita Sah" userId="58df650a9b28e738" providerId="LiveId" clId="{B2A23491-897E-4100-A280-E6ABBF3F6805}" dt="2026-04-21T22:23:19.981" v="15" actId="20577"/>
          <ac:spMkLst>
            <pc:docMk/>
            <pc:sldMk cId="0" sldId="257"/>
            <ac:spMk id="1048586" creationId="{00000000-0000-0000-0000-000000000000}"/>
          </ac:spMkLst>
        </pc:spChg>
      </pc:sldChg>
      <pc:sldChg chg="del">
        <pc:chgData name="Aparajita Sah" userId="58df650a9b28e738" providerId="LiveId" clId="{B2A23491-897E-4100-A280-E6ABBF3F6805}" dt="2026-04-21T22:22:33.833" v="0" actId="2696"/>
        <pc:sldMkLst>
          <pc:docMk/>
          <pc:sldMk cId="4223897615" sldId="283"/>
        </pc:sldMkLst>
      </pc:sldChg>
      <pc:sldChg chg="del">
        <pc:chgData name="Aparajita Sah" userId="58df650a9b28e738" providerId="LiveId" clId="{B2A23491-897E-4100-A280-E6ABBF3F6805}" dt="2026-04-21T22:22:38.697" v="2" actId="2696"/>
        <pc:sldMkLst>
          <pc:docMk/>
          <pc:sldMk cId="3491950074" sldId="288"/>
        </pc:sldMkLst>
      </pc:sldChg>
      <pc:sldChg chg="del">
        <pc:chgData name="Aparajita Sah" userId="58df650a9b28e738" providerId="LiveId" clId="{B2A23491-897E-4100-A280-E6ABBF3F6805}" dt="2026-04-21T22:22:50.495" v="6" actId="2696"/>
        <pc:sldMkLst>
          <pc:docMk/>
          <pc:sldMk cId="144166092" sldId="290"/>
        </pc:sldMkLst>
      </pc:sldChg>
      <pc:sldChg chg="del">
        <pc:chgData name="Aparajita Sah" userId="58df650a9b28e738" providerId="LiveId" clId="{B2A23491-897E-4100-A280-E6ABBF3F6805}" dt="2026-04-21T22:22:36.327" v="1" actId="2696"/>
        <pc:sldMkLst>
          <pc:docMk/>
          <pc:sldMk cId="3281233551" sldId="293"/>
        </pc:sldMkLst>
      </pc:sldChg>
      <pc:sldChg chg="del">
        <pc:chgData name="Aparajita Sah" userId="58df650a9b28e738" providerId="LiveId" clId="{B2A23491-897E-4100-A280-E6ABBF3F6805}" dt="2026-04-21T22:22:41.633" v="3" actId="2696"/>
        <pc:sldMkLst>
          <pc:docMk/>
          <pc:sldMk cId="461902548" sldId="294"/>
        </pc:sldMkLst>
      </pc:sldChg>
      <pc:sldChg chg="del">
        <pc:chgData name="Aparajita Sah" userId="58df650a9b28e738" providerId="LiveId" clId="{B2A23491-897E-4100-A280-E6ABBF3F6805}" dt="2026-04-21T22:22:44.257" v="4" actId="2696"/>
        <pc:sldMkLst>
          <pc:docMk/>
          <pc:sldMk cId="45921465" sldId="295"/>
        </pc:sldMkLst>
      </pc:sldChg>
      <pc:sldChg chg="del">
        <pc:chgData name="Aparajita Sah" userId="58df650a9b28e738" providerId="LiveId" clId="{B2A23491-897E-4100-A280-E6ABBF3F6805}" dt="2026-04-21T22:22:48.013" v="5" actId="2696"/>
        <pc:sldMkLst>
          <pc:docMk/>
          <pc:sldMk cId="2155760201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50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17BE6-7D9F-4722-9039-EC81DD988239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1048951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52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3177B-61CB-4A95-90E9-9FEB2D74A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4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606E2-5E20-4BB4-A72A-8C5FEB176543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104894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94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4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4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7DBC1-CB5D-4553-882D-F87B8C47A9F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01" name="TextShape 2"/>
          <p:cNvSpPr txBox="1"/>
          <p:nvPr/>
        </p:nvSpPr>
        <p:spPr>
          <a:xfrm>
            <a:off x="0" y="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1200" strike="noStrike">
                <a:solidFill>
                  <a:srgbClr val="000000"/>
                </a:solidFill>
                <a:latin typeface="+mn-lt"/>
                <a:ea typeface="+mn-ea"/>
              </a:rPr>
              <a:t>QoS aware Named Data Wireless Sensor Network</a:t>
            </a:r>
          </a:p>
        </p:txBody>
      </p:sp>
      <p:sp>
        <p:nvSpPr>
          <p:cNvPr id="104860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Department of Computer Science and Engineering</a:t>
            </a:r>
            <a:endParaRPr lang="en-US"/>
          </a:p>
        </p:txBody>
      </p:sp>
      <p:sp>
        <p:nvSpPr>
          <p:cNvPr id="1048603" name="Header Placeholder 2"/>
          <p:cNvSpPr>
            <a:spLocks noGrp="1"/>
          </p:cNvSpPr>
          <p:nvPr>
            <p:ph type="hdr" idx="11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Improving Security in Internet of Things</a:t>
            </a:r>
            <a:endParaRPr lang="en-US"/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7DBC1-CB5D-4553-882D-F87B8C47A9F5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2CC2-BEF7-4591-92E0-3B4893A82DD3}" type="datetime1">
              <a:rPr lang="en-IN" smtClean="0"/>
              <a:t>22-04-2026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8028-667F-43BF-B754-900B5B298E81}" type="datetime1">
              <a:rPr lang="en-IN" smtClean="0"/>
              <a:t>22-04-2026</a:t>
            </a:fld>
            <a:endParaRPr lang="en-IN"/>
          </a:p>
        </p:txBody>
      </p:sp>
      <p:sp>
        <p:nvSpPr>
          <p:cNvPr id="10489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1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B4C57-A949-48B1-BACC-194A041CA9FC}" type="datetime1">
              <a:rPr lang="en-IN" smtClean="0"/>
              <a:t>22-04-2026</a:t>
            </a:fld>
            <a:endParaRPr lang="en-IN"/>
          </a:p>
        </p:txBody>
      </p:sp>
      <p:sp>
        <p:nvSpPr>
          <p:cNvPr id="10489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2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2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4185-89B0-46EA-A884-C1669748574C}" type="datetime1">
              <a:rPr lang="en-IN" smtClean="0"/>
              <a:t>22-04-2026</a:t>
            </a:fld>
            <a:endParaRPr lang="en-IN"/>
          </a:p>
        </p:txBody>
      </p:sp>
      <p:sp>
        <p:nvSpPr>
          <p:cNvPr id="10489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3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78A2-BD8C-47EF-BAF4-4AA31CB86D03}" type="datetime1">
              <a:rPr lang="en-IN" smtClean="0"/>
              <a:t>22-04-2026</a:t>
            </a:fld>
            <a:endParaRPr lang="en-IN"/>
          </a:p>
        </p:txBody>
      </p:sp>
      <p:sp>
        <p:nvSpPr>
          <p:cNvPr id="104893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3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8B1-E572-4581-86C6-62EE64792FCC}" type="datetime1">
              <a:rPr lang="en-IN" smtClean="0"/>
              <a:t>22-04-2026</a:t>
            </a:fld>
            <a:endParaRPr lang="en-IN"/>
          </a:p>
        </p:txBody>
      </p:sp>
      <p:sp>
        <p:nvSpPr>
          <p:cNvPr id="104889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9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A5EA6-F2E1-471C-93E7-7A5475BBB4DF}" type="datetime1">
              <a:rPr lang="en-IN" smtClean="0"/>
              <a:t>22-04-2026</a:t>
            </a:fld>
            <a:endParaRPr lang="en-IN"/>
          </a:p>
        </p:txBody>
      </p:sp>
      <p:sp>
        <p:nvSpPr>
          <p:cNvPr id="104859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79944" y="6356349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CA5034E-5F5C-466C-85ED-C86E66847AC5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3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1D78-D2F0-45D6-8844-E29008485D4D}" type="datetime1">
              <a:rPr lang="en-IN" smtClean="0"/>
              <a:t>22-04-2026</a:t>
            </a:fld>
            <a:endParaRPr lang="en-IN"/>
          </a:p>
        </p:txBody>
      </p:sp>
      <p:sp>
        <p:nvSpPr>
          <p:cNvPr id="10489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04890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F79EF-4D8B-4F16-A285-22446FBDE507}" type="datetime1">
              <a:rPr lang="en-IN" smtClean="0"/>
              <a:t>22-04-2026</a:t>
            </a:fld>
            <a:endParaRPr lang="en-IN"/>
          </a:p>
        </p:txBody>
      </p:sp>
      <p:sp>
        <p:nvSpPr>
          <p:cNvPr id="10489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1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4E8E-B473-4ECF-9AAD-B034A9D9E874}" type="datetime1">
              <a:rPr lang="en-IN" smtClean="0"/>
              <a:t>22-04-2026</a:t>
            </a:fld>
            <a:endParaRPr lang="en-IN"/>
          </a:p>
        </p:txBody>
      </p:sp>
      <p:sp>
        <p:nvSpPr>
          <p:cNvPr id="10489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97E2-3C51-4F39-A657-15E965D09DD0}" type="datetime1">
              <a:rPr lang="en-IN" smtClean="0"/>
              <a:t>22-04-2026</a:t>
            </a:fld>
            <a:endParaRPr lang="en-IN"/>
          </a:p>
        </p:txBody>
      </p:sp>
      <p:sp>
        <p:nvSpPr>
          <p:cNvPr id="10489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51C1A-6E50-4EFD-A6A3-E707732D0641}" type="datetime1">
              <a:rPr lang="en-IN" smtClean="0"/>
              <a:t>22-04-2026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CustomShape 1"/>
          <p:cNvSpPr/>
          <p:nvPr/>
        </p:nvSpPr>
        <p:spPr>
          <a:xfrm>
            <a:off x="0" y="178905"/>
            <a:ext cx="12192000" cy="1059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NATURAL LANGUAGE PROCESSING</a:t>
            </a:r>
          </a:p>
        </p:txBody>
      </p:sp>
      <p:sp>
        <p:nvSpPr>
          <p:cNvPr id="1048587" name="CustomShape 2"/>
          <p:cNvSpPr/>
          <p:nvPr/>
        </p:nvSpPr>
        <p:spPr>
          <a:xfrm>
            <a:off x="4826442" y="3037871"/>
            <a:ext cx="8118281" cy="12558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CustomShape 3"/>
          <p:cNvSpPr/>
          <p:nvPr/>
        </p:nvSpPr>
        <p:spPr>
          <a:xfrm>
            <a:off x="3275847" y="4590163"/>
            <a:ext cx="5306007" cy="1430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00000"/>
              </a:lnSpc>
            </a:pP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Sital Sharma</a:t>
            </a:r>
            <a:endParaRPr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AI&amp;DS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SMIT, SMU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14163" y="1238015"/>
            <a:ext cx="5294064" cy="1453662"/>
          </a:xfrm>
          <a:prstGeom prst="rect">
            <a:avLst/>
          </a:prstGeom>
        </p:spPr>
      </p:pic>
      <p:sp>
        <p:nvSpPr>
          <p:cNvPr id="1048589" name="TextBox 2"/>
          <p:cNvSpPr txBox="1"/>
          <p:nvPr/>
        </p:nvSpPr>
        <p:spPr>
          <a:xfrm>
            <a:off x="2676767" y="3212531"/>
            <a:ext cx="6504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:-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Arpita Prasad (202300045)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Shape 1"/>
          <p:cNvSpPr txBox="1"/>
          <p:nvPr/>
        </p:nvSpPr>
        <p:spPr>
          <a:xfrm>
            <a:off x="8077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227F0702-19A8-4306-935E-56F484D1767E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594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595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596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IN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597" name="CustomShape 6"/>
          <p:cNvSpPr/>
          <p:nvPr/>
        </p:nvSpPr>
        <p:spPr>
          <a:xfrm>
            <a:off x="1033671" y="136800"/>
            <a:ext cx="10193238" cy="56503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000000"/>
                </a:solidFill>
                <a:latin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CustomShape 5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NATURAL LANGUAGE PROCESSING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dirty="0"/>
          </a:p>
        </p:txBody>
      </p:sp>
      <p:pic>
        <p:nvPicPr>
          <p:cNvPr id="2097153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599" name="TextBox 2"/>
          <p:cNvSpPr txBox="1"/>
          <p:nvPr/>
        </p:nvSpPr>
        <p:spPr>
          <a:xfrm>
            <a:off x="11396444" y="640229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ii</a:t>
            </a:r>
          </a:p>
        </p:txBody>
      </p:sp>
      <p:graphicFrame>
        <p:nvGraphicFramePr>
          <p:cNvPr id="419430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359335"/>
              </p:ext>
            </p:extLst>
          </p:nvPr>
        </p:nvGraphicFramePr>
        <p:xfrm>
          <a:off x="1918205" y="1101521"/>
          <a:ext cx="8659859" cy="507813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3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6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178">
                <a:tc>
                  <a:txBody>
                    <a:bodyPr/>
                    <a:lstStyle/>
                    <a:p>
                      <a:r>
                        <a:rPr lang="en-IN" sz="1800" dirty="0"/>
                        <a:t>SL.no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Page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Introduction to Ambiguity in Language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Types of Ambiguity in NLP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2-4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How and Why Ambiguity Occurs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Transformer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BERT and Multilingual BERT (mBERT)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6.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Fine-Tuning for Ambiguity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7.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Training Data and Dataset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8.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ArthaBot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10-11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442123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9.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ArthaBot Sample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022758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10.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Running the Project &amp; Conclusion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023061"/>
                  </a:ext>
                </a:extLst>
              </a:tr>
              <a:tr h="4231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Future 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6585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Introduction to Ambiguity in Language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477501" y="962904"/>
            <a:ext cx="11236635" cy="5278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Ambiguity?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word/phrase/sentence is ambiguous when it has multiple valid interpretations.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systems cannot rely on intuition, tone, or non-verbal cues.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Ambiguity Matters in NLP: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Wrong interpretations cause incorrect translations and bad chatbot responses.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Hindi/Hinglish: rich morphology, flexible word order, code-switching.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Required for: Machine Translation, Sentiment Analysis, Info Extraction.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Challenges in Hindi: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Pro-drop language: subjects/objects can be omitted.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SOV word order (unlike English SVO).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'kal' means BOTH 'yesterday' AND 'tomorrow’ – lexical temporal ambiguity.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'aam' means 'mango' AND 'common/ordinary'.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Hinglish Roman transliteration creates phonological ambiguity.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Types of Ambiguity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867640" y="1219730"/>
            <a:ext cx="9800000" cy="503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/>
                <a:cs typeface="Times New Roman"/>
              </a:rPr>
              <a:t>8 Primary Types Studied in Computational Linguistics</a:t>
            </a:r>
            <a:endParaRPr lang="en-US" dirty="0"/>
          </a:p>
          <a:p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1.  Lexical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Single word, multiple meanings via polysemy or homonymy.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'aam' = mango OR common  |  'note' = banknote OR written note.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Word Sense Disambiguation (WSD).</a:t>
            </a:r>
          </a:p>
          <a:p>
            <a:pPr algn="l">
              <a:lnSpc>
                <a:spcPct val="112000"/>
              </a:lnSpc>
            </a:pP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2.  Syntactic / Structural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Sentence has multiple valid grammatical parse trees.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'Ram aur Shyam ki bahan aayi' = 1 person coming OR 2 people?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Parsing / Constituent Analysis.</a:t>
            </a:r>
          </a:p>
          <a:p>
            <a:pPr algn="l">
              <a:lnSpc>
                <a:spcPct val="112000"/>
              </a:lnSpc>
            </a:pP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3.  Semantic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Figurative vs. literal meaning (idioms, metaphors).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'mera dil toot gaya' = heart physically broke OR heartbreak.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Semantic Role Labeling.</a:t>
            </a: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Types of Ambiguity </a:t>
            </a:r>
            <a:r>
              <a:rPr lang="en-US"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(contd.)</a:t>
            </a:r>
            <a:endParaRPr lang="en-US" sz="2400" i="1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1001204" y="1461095"/>
            <a:ext cx="9800000" cy="4107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4.  Pragmatic Ambiguity</a:t>
            </a:r>
            <a:endParaRPr lang="en-US" dirty="0"/>
          </a:p>
          <a:p>
            <a:pPr>
              <a:lnSpc>
                <a:spcPct val="112000"/>
              </a:lnSpc>
            </a:pPr>
            <a:r>
              <a:rPr lang="en-US" dirty="0">
                <a:latin typeface="Times New Roman"/>
                <a:cs typeface="Times New Roman"/>
              </a:rPr>
              <a:t>    Speaker intent differs from literal sentence meaning.</a:t>
            </a:r>
            <a:endParaRPr lang="en-US" dirty="0"/>
          </a:p>
          <a:p>
            <a:pPr>
              <a:lnSpc>
                <a:spcPct val="112000"/>
              </a:lnSpc>
            </a:pPr>
            <a:r>
              <a:rPr lang="en-US" dirty="0">
                <a:latin typeface="Times New Roman"/>
                <a:cs typeface="Times New Roman"/>
              </a:rPr>
              <a:t>    ‘paani lao' = polite request OR urgent command OR sarcasm.</a:t>
            </a:r>
          </a:p>
          <a:p>
            <a:pPr>
              <a:lnSpc>
                <a:spcPct val="112000"/>
              </a:lnSpc>
            </a:pP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5.  Referential / Anaphoric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Pronoun/noun phrase has multiple possible referents.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'Ram ne Shyam ko mara aur vo chala gaya’ – who left?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Coreference Resolution.</a:t>
            </a:r>
          </a:p>
          <a:p>
            <a:pPr algn="l">
              <a:lnSpc>
                <a:spcPct val="112000"/>
              </a:lnSpc>
            </a:pP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6.  Scope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Negation/quantifiers take different logical scopes.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'Sab log nahi aaye' = Not all came OR Nobody came at all?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Semantic Parsing.</a:t>
            </a:r>
            <a:endParaRPr lang="en-US" dirty="0"/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0EBD0-9C40-80A1-3D55-B7B2A64EA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>
            <a:extLst>
              <a:ext uri="{FF2B5EF4-FFF2-40B4-BE49-F238E27FC236}">
                <a16:creationId xmlns:a16="http://schemas.microsoft.com/office/drawing/2014/main" id="{D6C43078-648D-3FFA-14EE-D069CEE41C50}"/>
              </a:ext>
            </a:extLst>
          </p:cNvPr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>
            <a:extLst>
              <a:ext uri="{FF2B5EF4-FFF2-40B4-BE49-F238E27FC236}">
                <a16:creationId xmlns:a16="http://schemas.microsoft.com/office/drawing/2014/main" id="{34148292-DC5B-8A40-D55C-3DD8464CD223}"/>
              </a:ext>
            </a:extLst>
          </p:cNvPr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>
            <a:extLst>
              <a:ext uri="{FF2B5EF4-FFF2-40B4-BE49-F238E27FC236}">
                <a16:creationId xmlns:a16="http://schemas.microsoft.com/office/drawing/2014/main" id="{0EA27182-CC33-5801-6F10-62A9FC6CF3AA}"/>
              </a:ext>
            </a:extLst>
          </p:cNvPr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>
            <a:extLst>
              <a:ext uri="{FF2B5EF4-FFF2-40B4-BE49-F238E27FC236}">
                <a16:creationId xmlns:a16="http://schemas.microsoft.com/office/drawing/2014/main" id="{5EA1A872-6973-6ADF-B610-5D277DD121A9}"/>
              </a:ext>
            </a:extLst>
          </p:cNvPr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>
            <a:extLst>
              <a:ext uri="{FF2B5EF4-FFF2-40B4-BE49-F238E27FC236}">
                <a16:creationId xmlns:a16="http://schemas.microsoft.com/office/drawing/2014/main" id="{1F8407D8-3998-8892-4C9E-E79FA6818D7F}"/>
              </a:ext>
            </a:extLst>
          </p:cNvPr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Types of Ambiguity </a:t>
            </a:r>
            <a:r>
              <a:rPr lang="en-US"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(contd.)</a:t>
            </a:r>
            <a:endParaRPr lang="en-US" sz="2400" i="1" dirty="0"/>
          </a:p>
        </p:txBody>
      </p:sp>
      <p:sp>
        <p:nvSpPr>
          <p:cNvPr id="1048622" name="CustomShape 5">
            <a:extLst>
              <a:ext uri="{FF2B5EF4-FFF2-40B4-BE49-F238E27FC236}">
                <a16:creationId xmlns:a16="http://schemas.microsoft.com/office/drawing/2014/main" id="{6308C12A-61D2-47E8-8EE5-7589BD1BE9B9}"/>
              </a:ext>
            </a:extLst>
          </p:cNvPr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>
            <a:extLst>
              <a:ext uri="{FF2B5EF4-FFF2-40B4-BE49-F238E27FC236}">
                <a16:creationId xmlns:a16="http://schemas.microsoft.com/office/drawing/2014/main" id="{92C1B6A2-C06C-C199-918B-C289073A5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>
            <a:extLst>
              <a:ext uri="{FF2B5EF4-FFF2-40B4-BE49-F238E27FC236}">
                <a16:creationId xmlns:a16="http://schemas.microsoft.com/office/drawing/2014/main" id="{EF7DBFA7-E727-26ED-B416-252D0955F189}"/>
              </a:ext>
            </a:extLst>
          </p:cNvPr>
          <p:cNvSpPr txBox="1"/>
          <p:nvPr/>
        </p:nvSpPr>
        <p:spPr>
          <a:xfrm>
            <a:off x="867640" y="1461095"/>
            <a:ext cx="9800000" cy="2866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7.  Phonological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Same Roman spelling maps to different Devanagari words.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'haar' = necklace OR defeat  |  'kal' = yesterday OR tomorrow.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Transliteration Normalization.</a:t>
            </a:r>
          </a:p>
          <a:p>
            <a:pPr algn="l">
              <a:lnSpc>
                <a:spcPct val="112000"/>
              </a:lnSpc>
            </a:pP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/>
                <a:cs typeface="Times New Roman"/>
              </a:rPr>
              <a:t>8.  Morphological Ambiguity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Same word form functions as different parts of speech.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'padha' = verb 'read' (past) OR adjective 'educated'.</a:t>
            </a:r>
            <a:endParaRPr lang="en-US" dirty="0"/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/>
                <a:cs typeface="Times New Roman"/>
              </a:rPr>
              <a:t>    NLP Task: POS Tagging / Morphological Analysis.</a:t>
            </a:r>
            <a:endParaRPr lang="en-US" dirty="0"/>
          </a:p>
        </p:txBody>
      </p:sp>
      <p:sp>
        <p:nvSpPr>
          <p:cNvPr id="1048625" name="TextBox 8">
            <a:extLst>
              <a:ext uri="{FF2B5EF4-FFF2-40B4-BE49-F238E27FC236}">
                <a16:creationId xmlns:a16="http://schemas.microsoft.com/office/drawing/2014/main" id="{5A402F2C-AA5B-AC6F-FCCB-F572FFB39A51}"/>
              </a:ext>
            </a:extLst>
          </p:cNvPr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975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How and Why Ambiguity Occurs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867640" y="1071522"/>
            <a:ext cx="9800000" cy="5068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is a feature of language not a flaw.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finite vocabulary must express an infinite range of meanings.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Primary Linguistic Sources: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Underspecification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Speakers rely on shared world knowledge to fill information gaps.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Hindi 'vo' = he / she / it – deliberate underspecification.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Polysemy &amp; Historical Semantic Drift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Words accumulate meanings via metaphor, borrowing, cultural change.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NLP uses Hindi WordNet to track multi-sense lexicons.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Structural Economy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Languages prefer shorter sentences, creating parse ambiguity.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Coordination ('aur'), relative clauses ('jo'), PP attachment.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Code-switching (Hinglish)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Hindi-English mixing introduces script-level and phonological issues.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Monolingual NLP systems cannot handle Hinglish input.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Transformer Architecture</a:t>
            </a:r>
            <a:endParaRPr lang="en-US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1096240" y="1170872"/>
            <a:ext cx="9800000" cy="497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NLP Models: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1980s-2000s  Rule-based / n-gram       Brittle, no generalization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2000s-2010s  SVMs, CRFs                Limited context, no semantics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2013-2017    Word2Vec, GloVe            Static – one vector per word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2017-2018    BiLSTM, ELMo               Sequential, limited range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2018-now     BERT, GPT, Transformers    Full bidirectional context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Transformer (Vaswani et al., 2017 – 'Attention Is All You Need'):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Replaces recurrent units entirely with Self-Attention.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Any two positions in a sequence directly attend to each other.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Formula: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Attention(Q, K, V) = softmax( Q x Kt / sqrt(dk) ) x 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 = Query ('what am I looking for?')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K = Key   ('what do I represent?')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 = Value ('what information do I carry?')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6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BERT and Multilingual BERT (mBERT)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721387" y="1248847"/>
            <a:ext cx="10174853" cy="497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– Bidirectional Encoder Representations from Transformers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Reads full sentence simultaneously using left AND right context.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Produces different embeddings for 'aam' (mango) vs 'aam' (common).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Pre-trained on billions of words – transfers world knowledge.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WordPiece tokenization handles Out-of-Vocabulary and morphology.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bert-base-multilingual-cased (mBERT) Properties: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Parameters:        178 million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Transformer Layers: 12  |  Hidden Size: 768  |  Heads: 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Vocabulary:        119,547 tokens across 104 languages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Max Sequence:      512 tokens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Training:          Masked LM (MLM) + Next Sentence Prediction (NSP)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Hindi Coverage:    ~10,000 Devanagari vocabulary tokens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Attention: 12 heads capture different linguistic signals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Head 1: syntax  |  Head 2: semantics  |  Head 3: coreference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7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Fine-Tuning for Ambiguity Detection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1004791" y="1260395"/>
            <a:ext cx="9800000" cy="497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Multi-Label Classification (not multi-class)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Input:  Hindi/Hinglish sentence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Output: Binary vector length 8 – one flag per ambiguity 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single sentence can trigger multiple types simultaneously.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Sentence -&gt; Tokenizer -&gt; [CLS] token1 ... tokenN [SEP]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-&gt; 12 Transformer Layers -&gt; [CLS] 768-dim vector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-&gt; Dropout(0.1) -&gt; Linear(768-&gt;8) -&gt; Sigmoid -&gt; [p1..p8]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Loss:       BCEWithLogitsLoss (sigmoid + binary cross-entropy)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Optimizer:  AdamW  |  LR: 2e-5  |  weight_decay: 0.01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Schedule:   Linear warmup (10%) then linear decay to 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Epochs: 15  |  Batch: 4  |  Max Length: 128  |  Threshold: 0.35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Gradient Clipping: max norm = 1.0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8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11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Training Data and Dataset Design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994517" y="1300083"/>
            <a:ext cx="9800000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Total sentences:       25 hand-annotated examples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Hindi (Devanagari):   17  |  Hinglish (Roman): 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With ambiguity: 21   |  Unambiguous (control):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Multi-label (2+ types): 2  |  All 8 types covered: 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Distribution: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Lexical: 3   Syntactic: 3   Semantic: 2   Pragmatic: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Referential: 4   Scope: 4   Phonological: 2   Morphological: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Small Datasets Work with BERT: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BERT already understands Hindi grammar from 178M-param pre-training.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Fine-tuning only teaches it WHICH patterns to focus 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is Transfer Learning – pre-training knowledge transfers.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Even 25 examples generalize well because model isn't learning from scratch.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9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ArthaBot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865225" y="1033819"/>
            <a:ext cx="9946253" cy="524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NLP system that detects and explains all 8 ambiguity types.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Components: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Training Pipeline:  Python + PyTorch + HuggingFace Transformers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Backend API:        FastAPI + Uvicorn  (localhost:8000)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Frontend UI:        React + Vite + Lucide Icons  (localhost:5173)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Load 25-sentence JSON dataset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Tokenize with mBERT WordPiece tokenizer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BertForSequenceClassification (num_labels=8)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Train 15 epochs with BCEWithLogitsLoss + AdamW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5. Save model + tokenizer + label names to ./saved_model/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GET  /          Health check, returns model info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POST /analyze   Returns full ambiguity JSON for any sentence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10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6ADD-3CC4-A772-99CB-A1928231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>
            <a:extLst>
              <a:ext uri="{FF2B5EF4-FFF2-40B4-BE49-F238E27FC236}">
                <a16:creationId xmlns:a16="http://schemas.microsoft.com/office/drawing/2014/main" id="{A3B6890F-F71D-09A3-2609-D5AF5E2421AE}"/>
              </a:ext>
            </a:extLst>
          </p:cNvPr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13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>
            <a:extLst>
              <a:ext uri="{FF2B5EF4-FFF2-40B4-BE49-F238E27FC236}">
                <a16:creationId xmlns:a16="http://schemas.microsoft.com/office/drawing/2014/main" id="{686707A9-1C47-AEE9-472F-BE7946CFD5AA}"/>
              </a:ext>
            </a:extLst>
          </p:cNvPr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>
            <a:extLst>
              <a:ext uri="{FF2B5EF4-FFF2-40B4-BE49-F238E27FC236}">
                <a16:creationId xmlns:a16="http://schemas.microsoft.com/office/drawing/2014/main" id="{5CE8D4D6-E8E1-5779-3566-AFA31C54EA8A}"/>
              </a:ext>
            </a:extLst>
          </p:cNvPr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>
            <a:extLst>
              <a:ext uri="{FF2B5EF4-FFF2-40B4-BE49-F238E27FC236}">
                <a16:creationId xmlns:a16="http://schemas.microsoft.com/office/drawing/2014/main" id="{35901087-51F1-A3F3-278A-0403CB6977E3}"/>
              </a:ext>
            </a:extLst>
          </p:cNvPr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>
            <a:extLst>
              <a:ext uri="{FF2B5EF4-FFF2-40B4-BE49-F238E27FC236}">
                <a16:creationId xmlns:a16="http://schemas.microsoft.com/office/drawing/2014/main" id="{ABA304BC-8000-2B58-08B8-9F4605174C13}"/>
              </a:ext>
            </a:extLst>
          </p:cNvPr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ArthaBot </a:t>
            </a:r>
            <a:r>
              <a:rPr lang="en-US"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(contd.)</a:t>
            </a:r>
            <a:endParaRPr lang="en-US" sz="2400" i="1" dirty="0"/>
          </a:p>
        </p:txBody>
      </p:sp>
      <p:sp>
        <p:nvSpPr>
          <p:cNvPr id="1048622" name="CustomShape 5">
            <a:extLst>
              <a:ext uri="{FF2B5EF4-FFF2-40B4-BE49-F238E27FC236}">
                <a16:creationId xmlns:a16="http://schemas.microsoft.com/office/drawing/2014/main" id="{78AD282E-63EE-2AAA-8409-A8B421E28379}"/>
              </a:ext>
            </a:extLst>
          </p:cNvPr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>
            <a:extLst>
              <a:ext uri="{FF2B5EF4-FFF2-40B4-BE49-F238E27FC236}">
                <a16:creationId xmlns:a16="http://schemas.microsoft.com/office/drawing/2014/main" id="{FDBB24D0-9D4B-B93C-6B1B-760EEAE0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5" name="TextBox 8">
            <a:extLst>
              <a:ext uri="{FF2B5EF4-FFF2-40B4-BE49-F238E27FC236}">
                <a16:creationId xmlns:a16="http://schemas.microsoft.com/office/drawing/2014/main" id="{29237316-1DCE-05B6-2C6D-1CF1821B71FB}"/>
              </a:ext>
            </a:extLst>
          </p:cNvPr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A966A-0CBA-3F42-96C8-830FE1234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75" y="1027416"/>
            <a:ext cx="11013897" cy="4961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D860B2-92C5-DD5E-54B6-FA1452088522}"/>
              </a:ext>
            </a:extLst>
          </p:cNvPr>
          <p:cNvSpPr txBox="1"/>
          <p:nvPr/>
        </p:nvSpPr>
        <p:spPr>
          <a:xfrm>
            <a:off x="4397339" y="6033926"/>
            <a:ext cx="5641342" cy="372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of ArthaBot</a:t>
            </a:r>
          </a:p>
        </p:txBody>
      </p:sp>
    </p:spTree>
    <p:extLst>
      <p:ext uri="{BB962C8B-B14F-4D97-AF65-F5344CB8AC3E}">
        <p14:creationId xmlns:p14="http://schemas.microsoft.com/office/powerpoint/2010/main" val="82380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14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ArthaBot Sample Output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1015065" y="1255726"/>
            <a:ext cx="9800000" cy="4904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'vo aam khata hai'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Language Detected:    Hindi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Ambiguity Found:      YES – 1 type detected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Ambiguity Type:       LEXICAL AMBIGUITY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NLP Concept:          Polysemy / Homonymy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Severity:             HIGH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Confidence Score:     87%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Interpretation 1:  He eats mango.           [Most natural reading]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Interpretation 2:  He does ordinary things. [Adjectival reading]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Most Likely:  He eats mango — the fruit-eating interpretation 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more natural in everyday Hindi speech.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dark-themed UI, confidence badges, color-coded cards.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12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15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Running the Project and Challenges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867640" y="1143317"/>
            <a:ext cx="9800000" cy="496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 3.9+  |  Node.js 18+  |  4GB RAM  |  Internet (~700MB)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Commands: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cd arthabot-backend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pip install -r requirements.txt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 train_model.py     # trains model (~10 mins on CPU)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 server.py          # starts API at localhost:8000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cd hindi-ambiguity-resolver &amp;&amp; npm install &amp;&amp; npm run dev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Small dataset (25 examples) – limited generalization 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GPU by default – training takes 5-10 minutes on CPU.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Rule-based meaning templates – not generative or creative.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Single-sentence only – no discourse or coreference context.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Hinglish spelling variation – inconsistent Roman transliteration.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13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16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48621" name="CustomShape 5"/>
          <p:cNvSpPr/>
          <p:nvPr/>
        </p:nvSpPr>
        <p:spPr>
          <a:xfrm>
            <a:off x="721387" y="342768"/>
            <a:ext cx="10748865" cy="12402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Future Work</a:t>
            </a:r>
            <a:endParaRPr lang="en-US" sz="2400" dirty="0"/>
          </a:p>
        </p:txBody>
      </p:sp>
      <p:sp>
        <p:nvSpPr>
          <p:cNvPr id="1048622" name="CustomShape 5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AMBIGUITY IN NATURAL LANGUAGE PROCESSING</a:t>
            </a:r>
            <a:endParaRPr lang="en-US" dirty="0"/>
          </a:p>
          <a:p>
            <a:endParaRPr lang="en-US" dirty="0"/>
          </a:p>
        </p:txBody>
      </p:sp>
      <p:pic>
        <p:nvPicPr>
          <p:cNvPr id="2097155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623" name="TextBox 6"/>
          <p:cNvSpPr txBox="1"/>
          <p:nvPr/>
        </p:nvSpPr>
        <p:spPr>
          <a:xfrm>
            <a:off x="1096240" y="1555068"/>
            <a:ext cx="9800000" cy="351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Future Enhancements: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 Expand dataset to 500-1000 examples across Hindi dialects.</a:t>
            </a:r>
          </a:p>
          <a:p>
            <a:pPr algn="l">
              <a:lnSpc>
                <a:spcPct val="112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 Replace mBERT with IndicBERT or MuRIL (Indian-language models).</a:t>
            </a:r>
          </a:p>
          <a:p>
            <a:pPr algn="l">
              <a:lnSpc>
                <a:spcPct val="112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 Add multi-sentence input for discourse-level coreference.</a:t>
            </a:r>
          </a:p>
          <a:p>
            <a:pPr algn="l">
              <a:lnSpc>
                <a:spcPct val="112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 Use mT5 / IndicBART for generative natural-language explanations.</a:t>
            </a:r>
          </a:p>
          <a:p>
            <a:pPr algn="l">
              <a:lnSpc>
                <a:spcPct val="112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5.  Active Learning: auto-flag uncertain predictions for annotation.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8"/>
          <p:cNvSpPr txBox="1"/>
          <p:nvPr/>
        </p:nvSpPr>
        <p:spPr>
          <a:xfrm>
            <a:off x="11320013" y="6351868"/>
            <a:ext cx="61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14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mini_proj1 (1) (1)</Template>
  <TotalTime>183</TotalTime>
  <Words>2061</Words>
  <Application>Microsoft Office PowerPoint</Application>
  <PresentationFormat>Widescreen</PresentationFormat>
  <Paragraphs>335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Aparajita Sah</dc:creator>
  <cp:lastModifiedBy>Arpita Prasad</cp:lastModifiedBy>
  <cp:revision>18</cp:revision>
  <dcterms:created xsi:type="dcterms:W3CDTF">2026-04-21T22:09:46Z</dcterms:created>
  <dcterms:modified xsi:type="dcterms:W3CDTF">2026-04-22T10:04:06Z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53e04fb0f902470e8c82b201ef98790f</vt:lpwstr>
  </property>
</Properties>
</file>